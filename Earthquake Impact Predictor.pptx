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4"/>
  </p:notesMasterIdLst>
  <p:handoutMasterIdLst>
    <p:handoutMasterId r:id="rId15"/>
  </p:handoutMasterIdLst>
  <p:sldIdLst>
    <p:sldId id="256" r:id="rId5"/>
    <p:sldId id="263" r:id="rId6"/>
    <p:sldId id="264" r:id="rId7"/>
    <p:sldId id="265" r:id="rId8"/>
    <p:sldId id="268" r:id="rId9"/>
    <p:sldId id="266" r:id="rId10"/>
    <p:sldId id="259" r:id="rId11"/>
    <p:sldId id="267" r:id="rId12"/>
    <p:sldId id="26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84" d="100"/>
          <a:sy n="84" d="100"/>
        </p:scale>
        <p:origin x="65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US" b="0" i="1" dirty="0"/>
            <a:t>Automated Prediction </a:t>
          </a:r>
          <a:r>
            <a:rPr lang="en-US" b="0" dirty="0"/>
            <a:t>– Built a Gradient Boosting Classifier to classify earthquakes into alert zones with 95.24% accuracy. </a:t>
          </a:r>
        </a:p>
      </dgm:t>
    </dgm:pt>
    <dgm:pt modelId="{720680DC-AAA4-4434-A582-60EBCC5BA355}" type="parTrans" cxnId="{0B5DAE5F-BCDC-4BF7-A6E7-CF856886A64D}">
      <dgm:prSet/>
      <dgm:spPr/>
      <dgm:t>
        <a:bodyPr/>
        <a:lstStyle/>
        <a:p>
          <a:endParaRPr lang="en-US"/>
        </a:p>
      </dgm:t>
    </dgm:pt>
    <dgm:pt modelId="{CA077D98-8478-47EA-B6A9-99ACE60C64D4}" type="sibTrans" cxnId="{0B5DAE5F-BCDC-4BF7-A6E7-CF856886A64D}">
      <dgm:prSet/>
      <dgm:spPr/>
      <dgm:t>
        <a:bodyPr/>
        <a:lstStyle/>
        <a:p>
          <a:endParaRPr lang="en-US"/>
        </a:p>
      </dgm:t>
    </dgm:pt>
    <dgm:pt modelId="{0BEF68B8-1228-47BB-83B5-7B9CD1E3F84E}">
      <dgm:prSet phldrT="[Text]"/>
      <dgm:spPr/>
      <dgm:t>
        <a:bodyPr/>
        <a:lstStyle/>
        <a:p>
          <a:pPr>
            <a:lnSpc>
              <a:spcPct val="100000"/>
            </a:lnSpc>
            <a:buFont typeface="+mj-lt"/>
            <a:buAutoNum type="arabicPeriod"/>
          </a:pPr>
          <a:r>
            <a:rPr lang="en-US" b="0" i="1" dirty="0"/>
            <a:t>Interactive Web App </a:t>
          </a:r>
          <a:r>
            <a:rPr lang="en-US" b="1" dirty="0"/>
            <a:t>– </a:t>
          </a:r>
          <a:r>
            <a:rPr lang="en-US" b="0" dirty="0"/>
            <a:t>Deployed a </a:t>
          </a:r>
          <a:r>
            <a:rPr lang="en-US" b="0" dirty="0" err="1"/>
            <a:t>Streamlit</a:t>
          </a:r>
          <a:r>
            <a:rPr lang="en-US" b="0" dirty="0"/>
            <a:t> interface with sliders, presets, and real-time predictions with confidence scores..</a:t>
          </a:r>
        </a:p>
      </dgm:t>
    </dgm:pt>
    <dgm:pt modelId="{ED3A4BC2-B75A-4952-A38B-A42B5995DF05}" type="parTrans" cxnId="{EDEF4F82-1237-4639-A0F7-385C1897CE66}">
      <dgm:prSet/>
      <dgm:spPr/>
      <dgm:t>
        <a:bodyPr/>
        <a:lstStyle/>
        <a:p>
          <a:endParaRPr lang="en-US"/>
        </a:p>
      </dgm:t>
    </dgm:pt>
    <dgm:pt modelId="{FD949706-EDCC-4ADC-8EDF-8EDA49C92325}" type="sibTrans" cxnId="{EDEF4F82-1237-4639-A0F7-385C1897CE66}">
      <dgm:prSet/>
      <dgm:spPr/>
      <dgm:t>
        <a:bodyPr/>
        <a:lstStyle/>
        <a:p>
          <a:endParaRPr lang="en-US"/>
        </a:p>
      </dgm:t>
    </dgm:pt>
    <dgm:pt modelId="{5605D28D-2CE6-4513-8566-952984E21E14}">
      <dgm:prSet phldrT="[Text]"/>
      <dgm:spPr/>
      <dgm:t>
        <a:bodyPr/>
        <a:lstStyle/>
        <a:p>
          <a:pPr>
            <a:lnSpc>
              <a:spcPct val="100000"/>
            </a:lnSpc>
          </a:pPr>
          <a:r>
            <a:rPr lang="en-US" b="0" i="1" dirty="0"/>
            <a:t>Transparency &amp; Usability </a:t>
          </a:r>
          <a:r>
            <a:rPr lang="en-US" b="0" dirty="0"/>
            <a:t>– Added dataset preview, download option, and feature importance analysis for interpretability and user trust</a:t>
          </a:r>
          <a:r>
            <a:rPr lang="en-US" b="1" dirty="0"/>
            <a:t>. </a:t>
          </a:r>
        </a:p>
      </dgm:t>
    </dgm:pt>
    <dgm:pt modelId="{EB15AB98-362B-4E70-A3DA-995FC3E8BA79}" type="parTrans" cxnId="{FAF3F884-F0CF-440F-8CB1-B7648AB1B138}">
      <dgm:prSet/>
      <dgm:spPr/>
      <dgm:t>
        <a:bodyPr/>
        <a:lstStyle/>
        <a:p>
          <a:endParaRPr lang="en-US"/>
        </a:p>
      </dgm:t>
    </dgm:pt>
    <dgm:pt modelId="{823D1971-2C4D-4EC5-A874-2F463DE37109}" type="sibTrans" cxnId="{FAF3F884-F0CF-440F-8CB1-B7648AB1B138}">
      <dgm:prSet/>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081E875E-45DE-4F9C-AF4F-AFB314FCF746}" type="pres">
      <dgm:prSet presAssocID="{5605D28D-2CE6-4513-8566-952984E21E14}" presName="text_3" presStyleLbl="node1" presStyleIdx="2" presStyleCnt="3">
        <dgm:presLayoutVars>
          <dgm:bulletEnabled val="1"/>
        </dgm:presLayoutVars>
      </dgm:prSet>
      <dgm:spPr/>
    </dgm:pt>
    <dgm:pt modelId="{C9C75ED0-86D0-4AD4-917C-FCF15E80672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5F300555-DE01-49B3-967F-CFD3EDC486A1}" type="presOf" srcId="{5605D28D-2CE6-4513-8566-952984E21E14}" destId="{081E875E-45DE-4F9C-AF4F-AFB314FCF746}"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1DC5E1E1-7A45-47A8-A1BA-9FF7B09DA1B9}" type="presParOf" srcId="{90561C55-3C6E-4D53-85E1-2C50BCDDA392}" destId="{081E875E-45DE-4F9C-AF4F-AFB314FCF746}" srcOrd="5" destOrd="0" presId="urn:microsoft.com/office/officeart/2008/layout/VerticalCurvedList"/>
    <dgm:cxn modelId="{61B74B55-0CA5-414B-A195-5866E51B3B96}" type="presParOf" srcId="{90561C55-3C6E-4D53-85E1-2C50BCDDA392}" destId="{C9C75ED0-86D0-4AD4-917C-FCF15E80672B}" srcOrd="6" destOrd="0" presId="urn:microsoft.com/office/officeart/2008/layout/VerticalCurvedList"/>
    <dgm:cxn modelId="{012BBABC-694F-426B-BA7E-45624B9591C9}" type="presParOf" srcId="{C9C75ED0-86D0-4AD4-917C-FCF15E80672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0" i="1" kern="1200" dirty="0"/>
            <a:t>Automated Prediction </a:t>
          </a:r>
          <a:r>
            <a:rPr lang="en-US" sz="1600" b="0" kern="1200" dirty="0"/>
            <a:t>– Built a Gradient Boosting Classifier to classify earthquakes into alert zones with 95.24% accuracy. </a:t>
          </a:r>
        </a:p>
      </dsp:txBody>
      <dsp:txXfrm>
        <a:off x="496568" y="356393"/>
        <a:ext cx="6310391"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55666" y="1425575"/>
          <a:ext cx="6051292"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40640" rIns="40640" bIns="40640" numCol="1" spcCol="1270" anchor="ctr" anchorCtr="0">
          <a:noAutofit/>
        </a:bodyPr>
        <a:lstStyle/>
        <a:p>
          <a:pPr marL="0" lvl="0" indent="0" algn="l" defTabSz="711200">
            <a:lnSpc>
              <a:spcPct val="100000"/>
            </a:lnSpc>
            <a:spcBef>
              <a:spcPct val="0"/>
            </a:spcBef>
            <a:spcAft>
              <a:spcPct val="35000"/>
            </a:spcAft>
            <a:buFont typeface="+mj-lt"/>
            <a:buNone/>
          </a:pPr>
          <a:r>
            <a:rPr lang="en-US" sz="1600" b="0" i="1" kern="1200" dirty="0"/>
            <a:t>Interactive Web App </a:t>
          </a:r>
          <a:r>
            <a:rPr lang="en-US" sz="1600" b="1" kern="1200" dirty="0"/>
            <a:t>– </a:t>
          </a:r>
          <a:r>
            <a:rPr lang="en-US" sz="1600" b="0" kern="1200" dirty="0"/>
            <a:t>Deployed a </a:t>
          </a:r>
          <a:r>
            <a:rPr lang="en-US" sz="1600" b="0" kern="1200" dirty="0" err="1"/>
            <a:t>Streamlit</a:t>
          </a:r>
          <a:r>
            <a:rPr lang="en-US" sz="1600" b="0" kern="1200" dirty="0"/>
            <a:t> interface with sliders, presets, and real-time predictions with confidence scores..</a:t>
          </a:r>
        </a:p>
      </dsp:txBody>
      <dsp:txXfrm>
        <a:off x="755666" y="1425575"/>
        <a:ext cx="6051292"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81E875E-45DE-4F9C-AF4F-AFB314FCF746}">
      <dsp:nvSpPr>
        <dsp:cNvPr id="0" name=""/>
        <dsp:cNvSpPr/>
      </dsp:nvSpPr>
      <dsp:spPr>
        <a:xfrm>
          <a:off x="496568" y="2494756"/>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40640" rIns="40640" bIns="40640" numCol="1" spcCol="1270" anchor="ctr" anchorCtr="0">
          <a:noAutofit/>
        </a:bodyPr>
        <a:lstStyle/>
        <a:p>
          <a:pPr marL="0" lvl="0" indent="0" algn="l" defTabSz="711200">
            <a:lnSpc>
              <a:spcPct val="100000"/>
            </a:lnSpc>
            <a:spcBef>
              <a:spcPct val="0"/>
            </a:spcBef>
            <a:spcAft>
              <a:spcPct val="35000"/>
            </a:spcAft>
            <a:buNone/>
          </a:pPr>
          <a:r>
            <a:rPr lang="en-US" sz="1600" b="0" i="1" kern="1200" dirty="0"/>
            <a:t>Transparency &amp; Usability </a:t>
          </a:r>
          <a:r>
            <a:rPr lang="en-US" sz="1600" b="0" kern="1200" dirty="0"/>
            <a:t>– Added dataset preview, download option, and feature importance analysis for interpretability and user trust</a:t>
          </a:r>
          <a:r>
            <a:rPr lang="en-US" sz="1600" b="1" kern="1200" dirty="0"/>
            <a:t>. </a:t>
          </a:r>
        </a:p>
      </dsp:txBody>
      <dsp:txXfrm>
        <a:off x="496568" y="2494756"/>
        <a:ext cx="6310391"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1/8/2026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5000" dirty="0">
                <a:solidFill>
                  <a:schemeClr val="bg1"/>
                </a:solidFill>
              </a:rPr>
              <a:t>Earthquake Impact Predictor</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Creation and presentation by ~Harshit Mohan Srivastava</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4463354-4059-75D6-2F38-B62C14D3878B}"/>
              </a:ext>
            </a:extLst>
          </p:cNvPr>
          <p:cNvSpPr>
            <a:spLocks noGrp="1"/>
          </p:cNvSpPr>
          <p:nvPr>
            <p:ph type="title"/>
          </p:nvPr>
        </p:nvSpPr>
        <p:spPr/>
        <p:txBody>
          <a:bodyPr/>
          <a:lstStyle/>
          <a:p>
            <a:r>
              <a:rPr lang="en-IN" dirty="0"/>
              <a:t>Problem Statement</a:t>
            </a:r>
          </a:p>
        </p:txBody>
      </p:sp>
      <p:sp>
        <p:nvSpPr>
          <p:cNvPr id="10" name="Content Placeholder 9">
            <a:extLst>
              <a:ext uri="{FF2B5EF4-FFF2-40B4-BE49-F238E27FC236}">
                <a16:creationId xmlns:a16="http://schemas.microsoft.com/office/drawing/2014/main" id="{EAEDE76F-718F-326D-4573-3A54AE48F106}"/>
              </a:ext>
            </a:extLst>
          </p:cNvPr>
          <p:cNvSpPr>
            <a:spLocks noGrp="1"/>
          </p:cNvSpPr>
          <p:nvPr>
            <p:ph idx="1"/>
          </p:nvPr>
        </p:nvSpPr>
        <p:spPr/>
        <p:txBody>
          <a:bodyPr/>
          <a:lstStyle/>
          <a:p>
            <a:r>
              <a:rPr lang="en-US" dirty="0"/>
              <a:t>Earthquakes are unpredictable natural disasters that can cause severe damage to life and infrastructure. Traditional alert systems often rely on manual interpretation of seismic parameters, which delays timely response and reduces effectiveness in disaster preparedness. There is a critical need for an automated, accurate, and interpretable system that can quickly assess seismic data (magnitude, depth, CDI, MMI, and SIG) and predict the potential impact level.</a:t>
            </a:r>
          </a:p>
          <a:p>
            <a:r>
              <a:rPr lang="en-US" dirty="0"/>
              <a:t>This project addresses the challenge by leveraging machine learning to build a predictive model that classifies earthquake events into alert zones (green, yellow, orange, red) with high accuracy. The goal is to provide a fast, user-friendly tool that enhances situational awareness and supports early warning systems for communities and disaster management authorities.</a:t>
            </a:r>
          </a:p>
          <a:p>
            <a:endParaRPr lang="en-IN" dirty="0"/>
          </a:p>
        </p:txBody>
      </p:sp>
    </p:spTree>
    <p:extLst>
      <p:ext uri="{BB962C8B-B14F-4D97-AF65-F5344CB8AC3E}">
        <p14:creationId xmlns:p14="http://schemas.microsoft.com/office/powerpoint/2010/main" val="39585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889FF-F917-049A-16A3-EAF9B6600B52}"/>
              </a:ext>
            </a:extLst>
          </p:cNvPr>
          <p:cNvSpPr>
            <a:spLocks noGrp="1"/>
          </p:cNvSpPr>
          <p:nvPr>
            <p:ph type="title"/>
          </p:nvPr>
        </p:nvSpPr>
        <p:spPr/>
        <p:txBody>
          <a:bodyPr/>
          <a:lstStyle/>
          <a:p>
            <a:r>
              <a:rPr lang="en-IN" dirty="0"/>
              <a:t>Methodology</a:t>
            </a:r>
          </a:p>
        </p:txBody>
      </p:sp>
      <p:pic>
        <p:nvPicPr>
          <p:cNvPr id="11" name="Picture 10">
            <a:extLst>
              <a:ext uri="{FF2B5EF4-FFF2-40B4-BE49-F238E27FC236}">
                <a16:creationId xmlns:a16="http://schemas.microsoft.com/office/drawing/2014/main" id="{ABF3BE54-E4AD-2B95-4E4F-C01470923B1E}"/>
              </a:ext>
            </a:extLst>
          </p:cNvPr>
          <p:cNvPicPr>
            <a:picLocks noChangeAspect="1"/>
          </p:cNvPicPr>
          <p:nvPr/>
        </p:nvPicPr>
        <p:blipFill>
          <a:blip r:embed="rId2"/>
          <a:stretch>
            <a:fillRect/>
          </a:stretch>
        </p:blipFill>
        <p:spPr>
          <a:xfrm>
            <a:off x="581192" y="1837944"/>
            <a:ext cx="11029616" cy="5020056"/>
          </a:xfrm>
          <a:prstGeom prst="rect">
            <a:avLst/>
          </a:prstGeom>
        </p:spPr>
      </p:pic>
    </p:spTree>
    <p:extLst>
      <p:ext uri="{BB962C8B-B14F-4D97-AF65-F5344CB8AC3E}">
        <p14:creationId xmlns:p14="http://schemas.microsoft.com/office/powerpoint/2010/main" val="1298471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35E0-E836-68D9-63B8-94DF2E219129}"/>
              </a:ext>
            </a:extLst>
          </p:cNvPr>
          <p:cNvSpPr>
            <a:spLocks noGrp="1"/>
          </p:cNvSpPr>
          <p:nvPr>
            <p:ph type="title"/>
          </p:nvPr>
        </p:nvSpPr>
        <p:spPr/>
        <p:txBody>
          <a:bodyPr/>
          <a:lstStyle/>
          <a:p>
            <a:r>
              <a:rPr lang="en-IN" dirty="0"/>
              <a:t>Project Flow Diagram</a:t>
            </a:r>
          </a:p>
        </p:txBody>
      </p:sp>
      <p:pic>
        <p:nvPicPr>
          <p:cNvPr id="5" name="Content Placeholder 4">
            <a:extLst>
              <a:ext uri="{FF2B5EF4-FFF2-40B4-BE49-F238E27FC236}">
                <a16:creationId xmlns:a16="http://schemas.microsoft.com/office/drawing/2014/main" id="{FB6B94F7-5377-6651-E7D2-8448133E3A36}"/>
              </a:ext>
            </a:extLst>
          </p:cNvPr>
          <p:cNvPicPr>
            <a:picLocks noGrp="1" noChangeAspect="1"/>
          </p:cNvPicPr>
          <p:nvPr>
            <p:ph idx="1"/>
          </p:nvPr>
        </p:nvPicPr>
        <p:blipFill>
          <a:blip r:embed="rId2"/>
          <a:stretch>
            <a:fillRect/>
          </a:stretch>
        </p:blipFill>
        <p:spPr>
          <a:xfrm>
            <a:off x="466344" y="1847088"/>
            <a:ext cx="11265408" cy="5010911"/>
          </a:xfrm>
        </p:spPr>
      </p:pic>
    </p:spTree>
    <p:extLst>
      <p:ext uri="{BB962C8B-B14F-4D97-AF65-F5344CB8AC3E}">
        <p14:creationId xmlns:p14="http://schemas.microsoft.com/office/powerpoint/2010/main" val="2903090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74382-9F66-DDF6-0BC9-44EE7D00C477}"/>
              </a:ext>
            </a:extLst>
          </p:cNvPr>
          <p:cNvSpPr>
            <a:spLocks noGrp="1"/>
          </p:cNvSpPr>
          <p:nvPr>
            <p:ph type="title"/>
          </p:nvPr>
        </p:nvSpPr>
        <p:spPr/>
        <p:txBody>
          <a:bodyPr/>
          <a:lstStyle/>
          <a:p>
            <a:r>
              <a:rPr lang="en-IN" dirty="0"/>
              <a:t>Graphs and charts</a:t>
            </a:r>
          </a:p>
        </p:txBody>
      </p:sp>
      <p:pic>
        <p:nvPicPr>
          <p:cNvPr id="6" name="Picture 5">
            <a:extLst>
              <a:ext uri="{FF2B5EF4-FFF2-40B4-BE49-F238E27FC236}">
                <a16:creationId xmlns:a16="http://schemas.microsoft.com/office/drawing/2014/main" id="{65351E55-EBD1-C8E9-6D8D-6C9C5A51EC7E}"/>
              </a:ext>
            </a:extLst>
          </p:cNvPr>
          <p:cNvPicPr>
            <a:picLocks noChangeAspect="1"/>
          </p:cNvPicPr>
          <p:nvPr/>
        </p:nvPicPr>
        <p:blipFill>
          <a:blip r:embed="rId2"/>
          <a:stretch>
            <a:fillRect/>
          </a:stretch>
        </p:blipFill>
        <p:spPr>
          <a:xfrm>
            <a:off x="581191" y="2678432"/>
            <a:ext cx="3161020" cy="238408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8" name="Picture 7">
            <a:extLst>
              <a:ext uri="{FF2B5EF4-FFF2-40B4-BE49-F238E27FC236}">
                <a16:creationId xmlns:a16="http://schemas.microsoft.com/office/drawing/2014/main" id="{4DEC1D48-B577-565F-A7F3-919438363403}"/>
              </a:ext>
            </a:extLst>
          </p:cNvPr>
          <p:cNvPicPr>
            <a:picLocks noChangeAspect="1"/>
          </p:cNvPicPr>
          <p:nvPr/>
        </p:nvPicPr>
        <p:blipFill>
          <a:blip r:embed="rId3"/>
          <a:stretch>
            <a:fillRect/>
          </a:stretch>
        </p:blipFill>
        <p:spPr>
          <a:xfrm>
            <a:off x="4295331" y="2678432"/>
            <a:ext cx="3335304" cy="2337525"/>
          </a:xfrm>
          <a:prstGeom prst="rect">
            <a:avLst/>
          </a:prstGeom>
          <a:ln w="88900" cap="sq" cmpd="thickThin">
            <a:solidFill>
              <a:srgbClr val="000000"/>
            </a:solidFill>
            <a:prstDash val="solid"/>
            <a:miter lim="800000"/>
          </a:ln>
          <a:effectLst>
            <a:innerShdw blurRad="76200">
              <a:srgbClr val="000000"/>
            </a:innerShdw>
          </a:effectLst>
        </p:spPr>
      </p:pic>
      <p:pic>
        <p:nvPicPr>
          <p:cNvPr id="10" name="Picture 9">
            <a:extLst>
              <a:ext uri="{FF2B5EF4-FFF2-40B4-BE49-F238E27FC236}">
                <a16:creationId xmlns:a16="http://schemas.microsoft.com/office/drawing/2014/main" id="{B79C44DC-39C5-D886-F63C-BE50C02B6A99}"/>
              </a:ext>
            </a:extLst>
          </p:cNvPr>
          <p:cNvPicPr>
            <a:picLocks noChangeAspect="1"/>
          </p:cNvPicPr>
          <p:nvPr/>
        </p:nvPicPr>
        <p:blipFill>
          <a:blip r:embed="rId4"/>
          <a:stretch>
            <a:fillRect/>
          </a:stretch>
        </p:blipFill>
        <p:spPr>
          <a:xfrm>
            <a:off x="8183755" y="2611800"/>
            <a:ext cx="3543700" cy="240415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1" name="TextBox 10">
            <a:extLst>
              <a:ext uri="{FF2B5EF4-FFF2-40B4-BE49-F238E27FC236}">
                <a16:creationId xmlns:a16="http://schemas.microsoft.com/office/drawing/2014/main" id="{9357BB92-6A5A-CA0D-1185-5BB9D3795FC6}"/>
              </a:ext>
            </a:extLst>
          </p:cNvPr>
          <p:cNvSpPr txBox="1"/>
          <p:nvPr/>
        </p:nvSpPr>
        <p:spPr>
          <a:xfrm>
            <a:off x="950472" y="1904806"/>
            <a:ext cx="2422458" cy="584775"/>
          </a:xfrm>
          <a:prstGeom prst="rect">
            <a:avLst/>
          </a:prstGeom>
          <a:noFill/>
        </p:spPr>
        <p:txBody>
          <a:bodyPr wrap="none" rtlCol="0">
            <a:spAutoFit/>
          </a:bodyPr>
          <a:lstStyle/>
          <a:p>
            <a:pPr lvl="0"/>
            <a:r>
              <a:rPr lang="en-US" sz="3200" dirty="0"/>
              <a:t>Class Balance</a:t>
            </a:r>
            <a:endParaRPr lang="en-IN" dirty="0"/>
          </a:p>
        </p:txBody>
      </p:sp>
      <p:sp>
        <p:nvSpPr>
          <p:cNvPr id="12" name="TextBox 11">
            <a:extLst>
              <a:ext uri="{FF2B5EF4-FFF2-40B4-BE49-F238E27FC236}">
                <a16:creationId xmlns:a16="http://schemas.microsoft.com/office/drawing/2014/main" id="{F6E3DCF0-13B7-F273-31C0-1FF830E52248}"/>
              </a:ext>
            </a:extLst>
          </p:cNvPr>
          <p:cNvSpPr txBox="1"/>
          <p:nvPr/>
        </p:nvSpPr>
        <p:spPr>
          <a:xfrm>
            <a:off x="4316410" y="5393658"/>
            <a:ext cx="3559179" cy="584775"/>
          </a:xfrm>
          <a:prstGeom prst="rect">
            <a:avLst/>
          </a:prstGeom>
          <a:noFill/>
        </p:spPr>
        <p:txBody>
          <a:bodyPr wrap="none" rtlCol="0">
            <a:spAutoFit/>
          </a:bodyPr>
          <a:lstStyle/>
          <a:p>
            <a:r>
              <a:rPr lang="en-US" sz="3200" dirty="0"/>
              <a:t>Feature Importance</a:t>
            </a:r>
            <a:endParaRPr lang="en-IN" dirty="0"/>
          </a:p>
        </p:txBody>
      </p:sp>
      <p:sp>
        <p:nvSpPr>
          <p:cNvPr id="13" name="TextBox 12">
            <a:extLst>
              <a:ext uri="{FF2B5EF4-FFF2-40B4-BE49-F238E27FC236}">
                <a16:creationId xmlns:a16="http://schemas.microsoft.com/office/drawing/2014/main" id="{37488BFA-26D3-D602-2BF5-D2BB34456D33}"/>
              </a:ext>
            </a:extLst>
          </p:cNvPr>
          <p:cNvSpPr txBox="1"/>
          <p:nvPr/>
        </p:nvSpPr>
        <p:spPr>
          <a:xfrm>
            <a:off x="8267662" y="1904806"/>
            <a:ext cx="3459793" cy="584775"/>
          </a:xfrm>
          <a:prstGeom prst="rect">
            <a:avLst/>
          </a:prstGeom>
          <a:noFill/>
        </p:spPr>
        <p:txBody>
          <a:bodyPr wrap="none" rtlCol="0">
            <a:spAutoFit/>
          </a:bodyPr>
          <a:lstStyle/>
          <a:p>
            <a:r>
              <a:rPr lang="en-US" sz="3200" dirty="0"/>
              <a:t>Model Performance</a:t>
            </a:r>
            <a:endParaRPr lang="en-IN" dirty="0"/>
          </a:p>
        </p:txBody>
      </p:sp>
    </p:spTree>
    <p:extLst>
      <p:ext uri="{BB962C8B-B14F-4D97-AF65-F5344CB8AC3E}">
        <p14:creationId xmlns:p14="http://schemas.microsoft.com/office/powerpoint/2010/main" val="1611131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D227-B384-518A-37BD-3BA8C61336A9}"/>
              </a:ext>
            </a:extLst>
          </p:cNvPr>
          <p:cNvSpPr>
            <a:spLocks noGrp="1"/>
          </p:cNvSpPr>
          <p:nvPr>
            <p:ph type="title"/>
          </p:nvPr>
        </p:nvSpPr>
        <p:spPr/>
        <p:txBody>
          <a:bodyPr/>
          <a:lstStyle/>
          <a:p>
            <a:r>
              <a:rPr lang="en-IN" dirty="0"/>
              <a:t>Tech Stack</a:t>
            </a:r>
          </a:p>
        </p:txBody>
      </p:sp>
      <p:graphicFrame>
        <p:nvGraphicFramePr>
          <p:cNvPr id="5" name="Content Placeholder 4">
            <a:extLst>
              <a:ext uri="{FF2B5EF4-FFF2-40B4-BE49-F238E27FC236}">
                <a16:creationId xmlns:a16="http://schemas.microsoft.com/office/drawing/2014/main" id="{F3D08BA0-11CA-3CD4-231A-14D665EF3A99}"/>
              </a:ext>
            </a:extLst>
          </p:cNvPr>
          <p:cNvGraphicFramePr>
            <a:graphicFrameLocks noGrp="1"/>
          </p:cNvGraphicFramePr>
          <p:nvPr>
            <p:ph idx="1"/>
            <p:extLst>
              <p:ext uri="{D42A27DB-BD31-4B8C-83A1-F6EECF244321}">
                <p14:modId xmlns:p14="http://schemas.microsoft.com/office/powerpoint/2010/main" val="3073707757"/>
              </p:ext>
            </p:extLst>
          </p:nvPr>
        </p:nvGraphicFramePr>
        <p:xfrm>
          <a:off x="457200" y="2025776"/>
          <a:ext cx="11274552" cy="4356736"/>
        </p:xfrm>
        <a:graphic>
          <a:graphicData uri="http://schemas.openxmlformats.org/drawingml/2006/table">
            <a:tbl>
              <a:tblPr firstRow="1" bandRow="1">
                <a:tableStyleId>{5C22544A-7EE6-4342-B048-85BDC9FD1C3A}</a:tableStyleId>
              </a:tblPr>
              <a:tblGrid>
                <a:gridCol w="2238164">
                  <a:extLst>
                    <a:ext uri="{9D8B030D-6E8A-4147-A177-3AD203B41FA5}">
                      <a16:colId xmlns:a16="http://schemas.microsoft.com/office/drawing/2014/main" val="506593621"/>
                    </a:ext>
                  </a:extLst>
                </a:gridCol>
                <a:gridCol w="9036388">
                  <a:extLst>
                    <a:ext uri="{9D8B030D-6E8A-4147-A177-3AD203B41FA5}">
                      <a16:colId xmlns:a16="http://schemas.microsoft.com/office/drawing/2014/main" val="2531519268"/>
                    </a:ext>
                  </a:extLst>
                </a:gridCol>
              </a:tblGrid>
              <a:tr h="460930">
                <a:tc>
                  <a:txBody>
                    <a:bodyPr/>
                    <a:lstStyle/>
                    <a:p>
                      <a:r>
                        <a:rPr lang="en-IN" dirty="0"/>
                        <a:t>Layer</a:t>
                      </a:r>
                    </a:p>
                  </a:txBody>
                  <a:tcPr/>
                </a:tc>
                <a:tc>
                  <a:txBody>
                    <a:bodyPr/>
                    <a:lstStyle/>
                    <a:p>
                      <a:r>
                        <a:rPr lang="en-IN" dirty="0"/>
                        <a:t>Tools &amp; Technologies Used</a:t>
                      </a:r>
                    </a:p>
                  </a:txBody>
                  <a:tcPr/>
                </a:tc>
                <a:extLst>
                  <a:ext uri="{0D108BD9-81ED-4DB2-BD59-A6C34878D82A}">
                    <a16:rowId xmlns:a16="http://schemas.microsoft.com/office/drawing/2014/main" val="276645952"/>
                  </a:ext>
                </a:extLst>
              </a:tr>
              <a:tr h="460930">
                <a:tc>
                  <a:txBody>
                    <a:bodyPr/>
                    <a:lstStyle/>
                    <a:p>
                      <a:r>
                        <a:rPr lang="en-IN" dirty="0"/>
                        <a:t>Data Handling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t>Pandas, NumPy </a:t>
                      </a:r>
                      <a:r>
                        <a:rPr lang="en-US" b="0" dirty="0"/>
                        <a:t>– for dataset loading, cleaning, preprocessing, and feature scaling.</a:t>
                      </a:r>
                    </a:p>
                  </a:txBody>
                  <a:tcPr/>
                </a:tc>
                <a:extLst>
                  <a:ext uri="{0D108BD9-81ED-4DB2-BD59-A6C34878D82A}">
                    <a16:rowId xmlns:a16="http://schemas.microsoft.com/office/drawing/2014/main" val="1421455775"/>
                  </a:ext>
                </a:extLst>
              </a:tr>
              <a:tr h="460930">
                <a:tc>
                  <a:txBody>
                    <a:bodyPr/>
                    <a:lstStyle/>
                    <a:p>
                      <a:r>
                        <a:rPr lang="en-IN" dirty="0"/>
                        <a:t>Modelling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t>Scikit-learn</a:t>
                      </a:r>
                      <a:r>
                        <a:rPr lang="en-US" b="0" dirty="0"/>
                        <a:t> – Gradient Boosting Classifier, Label Encoding, evaluation metrics.</a:t>
                      </a:r>
                    </a:p>
                  </a:txBody>
                  <a:tcPr/>
                </a:tc>
                <a:extLst>
                  <a:ext uri="{0D108BD9-81ED-4DB2-BD59-A6C34878D82A}">
                    <a16:rowId xmlns:a16="http://schemas.microsoft.com/office/drawing/2014/main" val="1613854135"/>
                  </a:ext>
                </a:extLst>
              </a:tr>
              <a:tr h="795578">
                <a:tc>
                  <a:txBody>
                    <a:bodyPr/>
                    <a:lstStyle/>
                    <a:p>
                      <a:r>
                        <a:rPr lang="en-IN" dirty="0"/>
                        <a:t>Visualization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t>Matplotlib, Seaborn, </a:t>
                      </a:r>
                      <a:r>
                        <a:rPr lang="en-US" b="0" i="1" dirty="0" err="1"/>
                        <a:t>Streamlit</a:t>
                      </a:r>
                      <a:r>
                        <a:rPr lang="en-US" b="0" i="1" dirty="0"/>
                        <a:t> native charts </a:t>
                      </a:r>
                      <a:r>
                        <a:rPr lang="en-US" b="0" dirty="0"/>
                        <a:t>– for feature importance, distributions, confidence plots.</a:t>
                      </a:r>
                    </a:p>
                  </a:txBody>
                  <a:tcPr/>
                </a:tc>
                <a:extLst>
                  <a:ext uri="{0D108BD9-81ED-4DB2-BD59-A6C34878D82A}">
                    <a16:rowId xmlns:a16="http://schemas.microsoft.com/office/drawing/2014/main" val="2829359587"/>
                  </a:ext>
                </a:extLst>
              </a:tr>
              <a:tr h="795578">
                <a:tc>
                  <a:txBody>
                    <a:bodyPr/>
                    <a:lstStyle/>
                    <a:p>
                      <a:r>
                        <a:rPr lang="en-IN" dirty="0"/>
                        <a:t>Frontend/UI</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err="1"/>
                        <a:t>Streamlit</a:t>
                      </a:r>
                      <a:r>
                        <a:rPr lang="en-US" b="0" dirty="0"/>
                        <a:t> – interactive web app with sliders, number inputs, preset buttons, and styled prediction cards.</a:t>
                      </a:r>
                    </a:p>
                  </a:txBody>
                  <a:tcPr/>
                </a:tc>
                <a:extLst>
                  <a:ext uri="{0D108BD9-81ED-4DB2-BD59-A6C34878D82A}">
                    <a16:rowId xmlns:a16="http://schemas.microsoft.com/office/drawing/2014/main" val="943444784"/>
                  </a:ext>
                </a:extLst>
              </a:tr>
              <a:tr h="460930">
                <a:tc>
                  <a:txBody>
                    <a:bodyPr/>
                    <a:lstStyle/>
                    <a:p>
                      <a:r>
                        <a:rPr lang="en-IN" dirty="0"/>
                        <a:t>Deployment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err="1"/>
                        <a:t>Streamlit</a:t>
                      </a:r>
                      <a:r>
                        <a:rPr lang="en-US" b="0" i="1" dirty="0"/>
                        <a:t> cloud – </a:t>
                      </a:r>
                      <a:r>
                        <a:rPr lang="en-US" b="0" dirty="0"/>
                        <a:t>for deploying the app online to make it accessible to everyone on internet.</a:t>
                      </a:r>
                    </a:p>
                  </a:txBody>
                  <a:tcPr/>
                </a:tc>
                <a:extLst>
                  <a:ext uri="{0D108BD9-81ED-4DB2-BD59-A6C34878D82A}">
                    <a16:rowId xmlns:a16="http://schemas.microsoft.com/office/drawing/2014/main" val="3044679840"/>
                  </a:ext>
                </a:extLst>
              </a:tr>
              <a:tr h="460930">
                <a:tc>
                  <a:txBody>
                    <a:bodyPr/>
                    <a:lstStyle/>
                    <a:p>
                      <a:r>
                        <a:rPr lang="en-IN" b="0" dirty="0"/>
                        <a:t>Version Control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t>Git/GitHub</a:t>
                      </a:r>
                      <a:r>
                        <a:rPr lang="en-US" b="0" dirty="0"/>
                        <a:t> – for project tracking and collaboration.</a:t>
                      </a:r>
                    </a:p>
                  </a:txBody>
                  <a:tcPr/>
                </a:tc>
                <a:extLst>
                  <a:ext uri="{0D108BD9-81ED-4DB2-BD59-A6C34878D82A}">
                    <a16:rowId xmlns:a16="http://schemas.microsoft.com/office/drawing/2014/main" val="2582276708"/>
                  </a:ext>
                </a:extLst>
              </a:tr>
              <a:tr h="460930">
                <a:tc>
                  <a:txBody>
                    <a:bodyPr/>
                    <a:lstStyle/>
                    <a:p>
                      <a:r>
                        <a:rPr lang="en-IN" dirty="0"/>
                        <a:t>Environment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b="0" i="1" dirty="0"/>
                        <a:t>Python 3.11.7</a:t>
                      </a:r>
                      <a:r>
                        <a:rPr lang="en-IN" b="0" dirty="0"/>
                        <a:t>, Virtual Environment (</a:t>
                      </a:r>
                      <a:r>
                        <a:rPr lang="en-IN" b="0" dirty="0" err="1"/>
                        <a:t>venv</a:t>
                      </a:r>
                      <a:r>
                        <a:rPr lang="en-IN" b="0" dirty="0"/>
                        <a:t>).</a:t>
                      </a:r>
                    </a:p>
                  </a:txBody>
                  <a:tcPr/>
                </a:tc>
                <a:extLst>
                  <a:ext uri="{0D108BD9-81ED-4DB2-BD59-A6C34878D82A}">
                    <a16:rowId xmlns:a16="http://schemas.microsoft.com/office/drawing/2014/main" val="2983043009"/>
                  </a:ext>
                </a:extLst>
              </a:tr>
            </a:tbl>
          </a:graphicData>
        </a:graphic>
      </p:graphicFrame>
    </p:spTree>
    <p:extLst>
      <p:ext uri="{BB962C8B-B14F-4D97-AF65-F5344CB8AC3E}">
        <p14:creationId xmlns:p14="http://schemas.microsoft.com/office/powerpoint/2010/main" val="589236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50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en-US" dirty="0"/>
              <a:t>Solutions</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109002263"/>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B2EDC-4BFD-1339-5FB3-0D1C3985040A}"/>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B825CCDD-0C86-781E-D77D-7FE870D2AEB8}"/>
              </a:ext>
            </a:extLst>
          </p:cNvPr>
          <p:cNvSpPr>
            <a:spLocks noGrp="1"/>
          </p:cNvSpPr>
          <p:nvPr>
            <p:ph idx="1"/>
          </p:nvPr>
        </p:nvSpPr>
        <p:spPr/>
        <p:txBody>
          <a:bodyPr/>
          <a:lstStyle/>
          <a:p>
            <a:r>
              <a:rPr lang="en-IN" dirty="0"/>
              <a:t>The project demonstrates how Machine Learning can automate earthquake alert prediction, reducing reliance on manual interpretation.</a:t>
            </a:r>
          </a:p>
          <a:p>
            <a:r>
              <a:rPr lang="en-IN" dirty="0"/>
              <a:t>The Gradient Boosting Classifier achieved 95.24% accuracy, proving reliable classification of seismic events into alert zones.</a:t>
            </a:r>
          </a:p>
          <a:p>
            <a:r>
              <a:rPr lang="en-IN" dirty="0"/>
              <a:t>The Streamlit app provides a user friendly interface with real time predictions, confidence scores, and dataset transparency.</a:t>
            </a:r>
          </a:p>
          <a:p>
            <a:r>
              <a:rPr lang="en-IN" dirty="0"/>
              <a:t>The solution enhances disaster preparedness and awareness, with potential for future integration of real-time seismic feeds and cloud development.</a:t>
            </a:r>
          </a:p>
        </p:txBody>
      </p:sp>
    </p:spTree>
    <p:extLst>
      <p:ext uri="{BB962C8B-B14F-4D97-AF65-F5344CB8AC3E}">
        <p14:creationId xmlns:p14="http://schemas.microsoft.com/office/powerpoint/2010/main" val="4116795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353019" y="219646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Tech design</Template>
  <TotalTime>3304</TotalTime>
  <Words>425</Words>
  <Application>Microsoft Office PowerPoint</Application>
  <PresentationFormat>Widescreen</PresentationFormat>
  <Paragraphs>41</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Gill Sans MT</vt:lpstr>
      <vt:lpstr>Wingdings 2</vt:lpstr>
      <vt:lpstr>Custom</vt:lpstr>
      <vt:lpstr>Earthquake Impact Predictor</vt:lpstr>
      <vt:lpstr>Problem Statement</vt:lpstr>
      <vt:lpstr>Methodology</vt:lpstr>
      <vt:lpstr>Project Flow Diagram</vt:lpstr>
      <vt:lpstr>Graphs and charts</vt:lpstr>
      <vt:lpstr>Tech Stack</vt:lpstr>
      <vt:lpstr>Solutions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Harshit Srivastava</dc:creator>
  <cp:lastModifiedBy>Harshit Srivastava</cp:lastModifiedBy>
  <cp:revision>4</cp:revision>
  <dcterms:created xsi:type="dcterms:W3CDTF">2026-01-04T08:22:31Z</dcterms:created>
  <dcterms:modified xsi:type="dcterms:W3CDTF">2026-01-08T14:17:28Z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